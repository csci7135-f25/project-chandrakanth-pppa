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1pPr>
    <a:lvl2pPr marL="0" marR="0" indent="3429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2pPr>
    <a:lvl3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3pPr>
    <a:lvl4pPr marL="0" marR="0" indent="10287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4pPr>
    <a:lvl5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5pPr>
    <a:lvl6pPr marL="0" marR="0" indent="17145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6pPr>
    <a:lvl7pPr marL="0" marR="0" indent="2057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7pPr>
    <a:lvl8pPr marL="0" marR="0" indent="24003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8pPr>
    <a:lvl9pPr marL="0" marR="0" indent="2743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90"/>
  </p:normalViewPr>
  <p:slideViewPr>
    <p:cSldViewPr snapToGrid="0">
      <p:cViewPr varScale="1">
        <p:scale>
          <a:sx n="103" d="100"/>
          <a:sy n="103" d="100"/>
        </p:scale>
        <p:origin x="2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 algn="ctr">
              <a:defRPr sz="84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quare"/>
          <p:cNvSpPr/>
          <p:nvPr/>
        </p:nvSpPr>
        <p:spPr>
          <a:xfrm>
            <a:off x="3251200" y="-1"/>
            <a:ext cx="9753600" cy="9753601"/>
          </a:xfrm>
          <a:prstGeom prst="rect">
            <a:avLst/>
          </a:prstGeom>
          <a:solidFill>
            <a:srgbClr val="CDB680"/>
          </a:solidFill>
          <a:ln w="12700">
            <a:miter lim="400000"/>
          </a:ln>
        </p:spPr>
        <p:txBody>
          <a:bodyPr lIns="101600" tIns="101600" rIns="101600" bIns="101600" anchor="ctr"/>
          <a:lstStyle/>
          <a:p>
            <a:pPr algn="ctr">
              <a:defRPr sz="4000">
                <a:latin typeface="+mn-lt"/>
                <a:ea typeface="+mn-ea"/>
                <a:cs typeface="+mn-cs"/>
                <a:sym typeface="Gill Sans"/>
              </a:defRPr>
            </a:pPr>
            <a:endParaRPr/>
          </a:p>
        </p:txBody>
      </p:sp>
      <p:sp>
        <p:nvSpPr>
          <p:cNvPr id="53" name="Title Text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 algn="ctr">
              <a:defRPr sz="84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>
            <a:spLocks noGrp="1"/>
          </p:cNvSpPr>
          <p:nvPr>
            <p:ph type="body" sz="half" idx="1"/>
          </p:nvPr>
        </p:nvSpPr>
        <p:spPr>
          <a:xfrm>
            <a:off x="1270000" y="5029200"/>
            <a:ext cx="10464800" cy="308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004800" cy="1473200"/>
          </a:xfrm>
          <a:prstGeom prst="rect">
            <a:avLst/>
          </a:prstGeom>
          <a:solidFill>
            <a:srgbClr val="CDB680"/>
          </a:solidFill>
          <a:ln w="12700">
            <a:miter lim="400000"/>
          </a:ln>
        </p:spPr>
        <p:txBody>
          <a:bodyPr lIns="101600" tIns="101600" rIns="101600" bIns="101600" anchor="ctr"/>
          <a:lstStyle/>
          <a:p>
            <a:pPr algn="ctr">
              <a:defRPr sz="4000">
                <a:latin typeface="+mn-lt"/>
                <a:ea typeface="+mn-ea"/>
                <a:cs typeface="+mn-cs"/>
                <a:sym typeface="Gill Sans"/>
              </a:defRPr>
            </a:pPr>
            <a:endParaRPr/>
          </a:p>
        </p:txBody>
      </p:sp>
      <p:sp>
        <p:nvSpPr>
          <p:cNvPr id="3" name="Title Text"/>
          <p:cNvSpPr>
            <a:spLocks noGrp="1"/>
          </p:cNvSpPr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Body Level One…"/>
          <p:cNvSpPr>
            <a:spLocks noGrp="1"/>
          </p:cNvSpPr>
          <p:nvPr>
            <p:ph type="body" idx="1"/>
          </p:nvPr>
        </p:nvSpPr>
        <p:spPr>
          <a:xfrm>
            <a:off x="444500" y="1676400"/>
            <a:ext cx="12115800" cy="7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800">
                <a:latin typeface="+mn-lt"/>
                <a:ea typeface="+mn-ea"/>
                <a:cs typeface="+mn-c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ransition spd="med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9pPr>
    </p:titleStyle>
    <p:bodyStyle>
      <a:lvl1pPr marL="889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1pPr>
      <a:lvl2pPr marL="13335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2pPr>
      <a:lvl3pPr marL="1778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3pPr>
      <a:lvl4pPr marL="22225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4pPr>
      <a:lvl5pPr marL="2667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5pPr>
      <a:lvl6pPr marL="30226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6pPr>
      <a:lvl7pPr marL="33782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7pPr>
      <a:lvl8pPr marL="37338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8pPr>
      <a:lvl9pPr marL="40894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"/>
          <p:cNvSpPr>
            <a:spLocks noGrp="1"/>
          </p:cNvSpPr>
          <p:nvPr>
            <p:ph type="title"/>
          </p:nvPr>
        </p:nvSpPr>
        <p:spPr>
          <a:xfrm>
            <a:off x="1270000" y="1574800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r>
              <a:rPr lang="en-US" sz="4400" dirty="0"/>
              <a:t>Certifying Differential Invariants in Backpropagation of Neural Networks using Abstract Duals</a:t>
            </a:r>
            <a:endParaRPr sz="4400" dirty="0"/>
          </a:p>
        </p:txBody>
      </p:sp>
      <p:sp>
        <p:nvSpPr>
          <p:cNvPr id="66" name="PLACE…"/>
          <p:cNvSpPr>
            <a:spLocks noGrp="1"/>
          </p:cNvSpPr>
          <p:nvPr>
            <p:ph type="body" sz="quarter" idx="1"/>
          </p:nvPr>
        </p:nvSpPr>
        <p:spPr>
          <a:xfrm>
            <a:off x="1270000" y="8305800"/>
            <a:ext cx="10464800" cy="952500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rPr lang="en-US" dirty="0"/>
              <a:t>CSCI 7135 – Principles and Practice of Program Analysis</a:t>
            </a:r>
            <a:endParaRPr dirty="0"/>
          </a:p>
          <a:p>
            <a:pPr>
              <a:defRPr sz="2400"/>
            </a:pPr>
            <a:r>
              <a:rPr lang="en-US" dirty="0"/>
              <a:t>12-09-2025</a:t>
            </a:r>
            <a:endParaRPr dirty="0"/>
          </a:p>
        </p:txBody>
      </p:sp>
      <p:sp>
        <p:nvSpPr>
          <p:cNvPr id="69" name="AUTHOR 1"/>
          <p:cNvSpPr/>
          <p:nvPr/>
        </p:nvSpPr>
        <p:spPr>
          <a:xfrm>
            <a:off x="5068517" y="6263355"/>
            <a:ext cx="2867773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2000"/>
            </a:lvl1pPr>
          </a:lstStyle>
          <a:p>
            <a:r>
              <a:rPr lang="en-US" dirty="0"/>
              <a:t>Chandra Kanth Nagesh</a:t>
            </a:r>
            <a:endParaRPr dirty="0"/>
          </a:p>
        </p:txBody>
      </p:sp>
      <p:sp>
        <p:nvSpPr>
          <p:cNvPr id="70" name="University of Colorado Boulder"/>
          <p:cNvSpPr/>
          <p:nvPr/>
        </p:nvSpPr>
        <p:spPr>
          <a:xfrm>
            <a:off x="3226531" y="6687008"/>
            <a:ext cx="6553275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600"/>
            </a:pPr>
            <a:r>
              <a:t>University of Colorado Boulder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25C8-497F-C1FE-649B-43FC6069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[Catch]</a:t>
            </a:r>
          </a:p>
        </p:txBody>
      </p:sp>
    </p:spTree>
    <p:extLst>
      <p:ext uri="{BB962C8B-B14F-4D97-AF65-F5344CB8AC3E}">
        <p14:creationId xmlns:p14="http://schemas.microsoft.com/office/powerpoint/2010/main" val="37608034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[What is the problem?]</a:t>
            </a:r>
            <a:endParaRPr dirty="0"/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xfrm>
            <a:off x="6381749" y="9258300"/>
            <a:ext cx="228601" cy="3683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0CEB8E-D851-122F-C73B-AEF34F02747A}"/>
                  </a:ext>
                </a:extLst>
              </p:cNvPr>
              <p:cNvSpPr txBox="1"/>
              <p:nvPr/>
            </p:nvSpPr>
            <p:spPr>
              <a:xfrm>
                <a:off x="662152" y="2195400"/>
                <a:ext cx="11745310" cy="268791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Neural Networks are highly non-linear and vulnerable to </a:t>
                </a:r>
                <a:r>
                  <a:rPr lang="en-US" sz="2800" i="1" dirty="0"/>
                  <a:t>adversarial attacks</a:t>
                </a:r>
                <a:r>
                  <a:rPr lang="en-US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 tiny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 change to an input image can drastically change the output classification.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Testing on a finite set of examples is insufficient for safety-critical applications (e.g., in autonomous driving)</a:t>
                </a:r>
                <a:endParaRPr kumimoji="0" lang="en-US" sz="280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MU Concrete Roman" panose="02000603000000000000" pitchFamily="2" charset="0"/>
                  <a:sym typeface="Futur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0CEB8E-D851-122F-C73B-AEF34F027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52" y="2195400"/>
                <a:ext cx="11745310" cy="2687915"/>
              </a:xfrm>
              <a:prstGeom prst="rect">
                <a:avLst/>
              </a:prstGeom>
              <a:blipFill>
                <a:blip r:embed="rId2"/>
                <a:stretch>
                  <a:fillRect l="-1297" t="-1878" r="-1946" b="-563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7CD4429-1D05-6AAF-D7AF-F0FB429FA6E6}"/>
              </a:ext>
            </a:extLst>
          </p:cNvPr>
          <p:cNvSpPr txBox="1"/>
          <p:nvPr/>
        </p:nvSpPr>
        <p:spPr>
          <a:xfrm>
            <a:off x="2157640" y="8323814"/>
            <a:ext cx="1695977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utura"/>
                <a:ea typeface="Futura"/>
                <a:cs typeface="Futura"/>
                <a:sym typeface="Futura"/>
              </a:rPr>
              <a:t>Original Image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6DBAB1-ECE8-3F65-FB76-4127147F7302}"/>
                  </a:ext>
                </a:extLst>
              </p:cNvPr>
              <p:cNvSpPr txBox="1"/>
              <p:nvPr/>
            </p:nvSpPr>
            <p:spPr>
              <a:xfrm>
                <a:off x="5686818" y="8323814"/>
                <a:ext cx="1695977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Futura"/>
                    <a:ea typeface="Futura"/>
                    <a:cs typeface="Futura"/>
                    <a:sym typeface="Futura"/>
                  </a:rPr>
                  <a:t>Original Image</a:t>
                </a:r>
              </a:p>
              <a:p>
                <a:pPr algn="ctr"/>
                <a:r>
                  <a:rPr lang="en-US" sz="1800" dirty="0"/>
                  <a:t>+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=0.25</m:t>
                    </m:r>
                  </m:oMath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utura"/>
                  <a:ea typeface="Futura"/>
                  <a:cs typeface="Futura"/>
                  <a:sym typeface="Futura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6DBAB1-ECE8-3F65-FB76-4127147F7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818" y="8323814"/>
                <a:ext cx="1695977" cy="656590"/>
              </a:xfrm>
              <a:prstGeom prst="rect">
                <a:avLst/>
              </a:prstGeom>
              <a:blipFill>
                <a:blip r:embed="rId3"/>
                <a:stretch>
                  <a:fillRect l="-4444" t="-3774" r="-4444" b="-1132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720BD3-B2F2-643A-93DB-68CA37BA6FCE}"/>
                  </a:ext>
                </a:extLst>
              </p:cNvPr>
              <p:cNvSpPr txBox="1"/>
              <p:nvPr/>
            </p:nvSpPr>
            <p:spPr>
              <a:xfrm>
                <a:off x="9151182" y="8323814"/>
                <a:ext cx="1695977" cy="6565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Futura"/>
                    <a:ea typeface="Futura"/>
                    <a:cs typeface="Futura"/>
                    <a:sym typeface="Futura"/>
                  </a:rPr>
                  <a:t>Original Image</a:t>
                </a:r>
              </a:p>
              <a:p>
                <a:pPr algn="ctr"/>
                <a:r>
                  <a:rPr lang="en-US" sz="1800" dirty="0"/>
                  <a:t>+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utura"/>
                  <a:ea typeface="Futura"/>
                  <a:cs typeface="Futura"/>
                  <a:sym typeface="Futura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720BD3-B2F2-643A-93DB-68CA37BA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182" y="8323814"/>
                <a:ext cx="1695977" cy="656590"/>
              </a:xfrm>
              <a:prstGeom prst="rect">
                <a:avLst/>
              </a:prstGeom>
              <a:blipFill>
                <a:blip r:embed="rId4"/>
                <a:stretch>
                  <a:fillRect l="-5224" t="-3774" r="-5224" b="-1132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18" descr="Badge Tick outline">
            <a:extLst>
              <a:ext uri="{FF2B5EF4-FFF2-40B4-BE49-F238E27FC236}">
                <a16:creationId xmlns:a16="http://schemas.microsoft.com/office/drawing/2014/main" id="{2F5819D3-55E5-BEF1-5D3B-3F8DDAED19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5182" y="5345879"/>
            <a:ext cx="1156325" cy="1156325"/>
          </a:xfrm>
          <a:prstGeom prst="rect">
            <a:avLst/>
          </a:prstGeom>
        </p:spPr>
      </p:pic>
      <p:pic>
        <p:nvPicPr>
          <p:cNvPr id="31" name="Graphic 30" descr="Badge Question Mark outline">
            <a:extLst>
              <a:ext uri="{FF2B5EF4-FFF2-40B4-BE49-F238E27FC236}">
                <a16:creationId xmlns:a16="http://schemas.microsoft.com/office/drawing/2014/main" id="{617DC00E-D7F7-4D28-0171-28FCC5DFCE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2915" y="5436973"/>
            <a:ext cx="1065231" cy="1065231"/>
          </a:xfrm>
          <a:prstGeom prst="rect">
            <a:avLst/>
          </a:prstGeom>
        </p:spPr>
      </p:pic>
      <p:pic>
        <p:nvPicPr>
          <p:cNvPr id="32" name="Graphic 31" descr="Badge Question Mark outline">
            <a:extLst>
              <a:ext uri="{FF2B5EF4-FFF2-40B4-BE49-F238E27FC236}">
                <a16:creationId xmlns:a16="http://schemas.microsoft.com/office/drawing/2014/main" id="{76F28E3C-B844-5709-BCB1-7C5C4473A3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99554" y="5436973"/>
            <a:ext cx="1065231" cy="1065231"/>
          </a:xfrm>
          <a:prstGeom prst="rect">
            <a:avLst/>
          </a:prstGeom>
        </p:spPr>
      </p:pic>
      <p:pic>
        <p:nvPicPr>
          <p:cNvPr id="13" name="Picture 12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1F71FCB3-5DF5-813F-BE9B-9B91BE1B34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3" t="10248" r="33113" b="10644"/>
          <a:stretch>
            <a:fillRect/>
          </a:stretch>
        </p:blipFill>
        <p:spPr>
          <a:xfrm>
            <a:off x="5474684" y="6124901"/>
            <a:ext cx="2055432" cy="1970688"/>
          </a:xfrm>
          <a:prstGeom prst="rect">
            <a:avLst/>
          </a:prstGeom>
        </p:spPr>
      </p:pic>
      <p:pic>
        <p:nvPicPr>
          <p:cNvPr id="14" name="Picture 13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2CCE8579-BED8-5045-3733-E792AFAEE7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96" t="10248" b="10644"/>
          <a:stretch>
            <a:fillRect/>
          </a:stretch>
        </p:blipFill>
        <p:spPr>
          <a:xfrm>
            <a:off x="8971455" y="6124901"/>
            <a:ext cx="2055432" cy="1970688"/>
          </a:xfrm>
          <a:prstGeom prst="rect">
            <a:avLst/>
          </a:prstGeom>
        </p:spPr>
      </p:pic>
      <p:pic>
        <p:nvPicPr>
          <p:cNvPr id="12" name="Picture 11" descr="A black and white image of a snake&#10;&#10;AI-generated content may be incorrect.">
            <a:extLst>
              <a:ext uri="{FF2B5EF4-FFF2-40B4-BE49-F238E27FC236}">
                <a16:creationId xmlns:a16="http://schemas.microsoft.com/office/drawing/2014/main" id="{E9565866-B595-6F1C-DB5D-F51B1E5412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8" r="66996" b="10644"/>
          <a:stretch>
            <a:fillRect/>
          </a:stretch>
        </p:blipFill>
        <p:spPr>
          <a:xfrm>
            <a:off x="1977913" y="6124901"/>
            <a:ext cx="2055432" cy="19706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22CE-19A7-E316-8E4D-E19957A6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[Why is it interesting?]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8B0E37-95DF-8189-1DF8-F7E5A865F847}"/>
                  </a:ext>
                </a:extLst>
              </p:cNvPr>
              <p:cNvSpPr txBox="1"/>
              <p:nvPr/>
            </p:nvSpPr>
            <p:spPr>
              <a:xfrm>
                <a:off x="629745" y="2784748"/>
                <a:ext cx="11745310" cy="39805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r>
                  <a:rPr kumimoji="0" lang="en-US" sz="280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ea typeface="CMU Concrete Roman" panose="02000603000000000000" pitchFamily="2" charset="0"/>
                    <a:sym typeface="Futura"/>
                  </a:rPr>
                  <a:t>The power of global bounds with simplicity of gradient analysis</a:t>
                </a:r>
              </a:p>
              <a:p>
                <a:endParaRPr lang="en-US" sz="2800" dirty="0">
                  <a:ea typeface="CMU Concrete Roman" panose="02000603000000000000" pitchFamily="2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>
                    <a:ea typeface="CMU Concrete Roman" panose="02000603000000000000" pitchFamily="2" charset="0"/>
                  </a:rPr>
                  <a:t>Simplicity beats complexity</a:t>
                </a:r>
              </a:p>
              <a:p>
                <a:pPr marL="923925" lvl="3" indent="-455613">
                  <a:buFont typeface="Arial" panose="020B0604020202020204" pitchFamily="34" charset="0"/>
                  <a:buChar char="•"/>
                </a:pPr>
                <a:r>
                  <a:rPr lang="en-US" sz="2800" dirty="0" err="1">
                    <a:ea typeface="CMU Concrete Roman" panose="02000603000000000000" pitchFamily="2" charset="0"/>
                  </a:rPr>
                  <a:t>DeepPoly</a:t>
                </a:r>
                <a:r>
                  <a:rPr lang="en-US" sz="2800" dirty="0">
                    <a:ea typeface="CMU Concrete Roman" panose="02000603000000000000" pitchFamily="2" charset="0"/>
                  </a:rPr>
                  <a:t> is strictly better than our method</a:t>
                </a:r>
              </a:p>
              <a:p>
                <a:pPr marL="923925" lvl="3" indent="-455613">
                  <a:buFont typeface="Arial" panose="020B0604020202020204" pitchFamily="34" charset="0"/>
                  <a:buChar char="•"/>
                </a:pPr>
                <a:r>
                  <a:rPr lang="en-US" sz="2800" dirty="0">
                    <a:ea typeface="CMU Concrete Roman" panose="02000603000000000000" pitchFamily="2" charset="0"/>
                  </a:rPr>
                  <a:t>However, s</a:t>
                </a:r>
                <a:r>
                  <a:rPr lang="en-US" sz="2800" i="1" dirty="0">
                    <a:ea typeface="CMU Concrete Roman" panose="02000603000000000000" pitchFamily="2" charset="0"/>
                  </a:rPr>
                  <a:t>urprise results found!</a:t>
                </a:r>
              </a:p>
              <a:p>
                <a:pPr marL="923925" lvl="3" indent="-455613">
                  <a:buFont typeface="Arial" panose="020B0604020202020204" pitchFamily="34" charset="0"/>
                  <a:buChar char="•"/>
                </a:pPr>
                <a:endParaRPr lang="en-US" sz="2800" i="1" dirty="0">
                  <a:ea typeface="CMU Concrete Roman" panose="02000603000000000000" pitchFamily="2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>
                    <a:ea typeface="CMU Concrete Roman" panose="02000603000000000000" pitchFamily="2" charset="0"/>
                  </a:rPr>
                  <a:t>Gradient Instability</a:t>
                </a:r>
              </a:p>
              <a:p>
                <a:pPr marL="973138" lvl="1" indent="-504825">
                  <a:buFont typeface="Arial" panose="020B0604020202020204" pitchFamily="34" charset="0"/>
                  <a:buChar char="•"/>
                </a:pPr>
                <a:r>
                  <a:rPr lang="en-US" sz="2800" dirty="0">
                    <a:ea typeface="CMU Concrete Roman" panose="02000603000000000000" pitchFamily="2" charset="0"/>
                  </a:rPr>
                  <a:t>Found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MU Concrete Roman" panose="02000603000000000000" pitchFamily="2" charset="0"/>
                      </a:rPr>
                      <m:t>100%</m:t>
                    </m:r>
                  </m:oMath>
                </a14:m>
                <a:r>
                  <a:rPr lang="en-US" sz="2800" dirty="0">
                    <a:ea typeface="CMU Concrete Roman" panose="02000603000000000000" pitchFamily="2" charset="0"/>
                  </a:rPr>
                  <a:t> correlation between instability and failure at high</a:t>
                </a:r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>
                    <a:ea typeface="CMU Concrete Roman" panose="02000603000000000000" pitchFamily="2" charset="0"/>
                  </a:rPr>
                  <a:t> Our method detects when the local linearity assumption collapses.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8B0E37-95DF-8189-1DF8-F7E5A865F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45" y="2784748"/>
                <a:ext cx="11745310" cy="3980577"/>
              </a:xfrm>
              <a:prstGeom prst="rect">
                <a:avLst/>
              </a:prstGeom>
              <a:blipFill>
                <a:blip r:embed="rId2"/>
                <a:stretch>
                  <a:fillRect l="-1512" t="-955" r="-972" b="-38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4093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D4F0-6CF4-E469-470F-64E88B2C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[Why is it hard?]</a:t>
            </a:r>
          </a:p>
        </p:txBody>
      </p:sp>
    </p:spTree>
    <p:extLst>
      <p:ext uri="{BB962C8B-B14F-4D97-AF65-F5344CB8AC3E}">
        <p14:creationId xmlns:p14="http://schemas.microsoft.com/office/powerpoint/2010/main" val="42781725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38A-75E9-52F0-9900-A6320052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[What is the contribution?]</a:t>
            </a:r>
          </a:p>
        </p:txBody>
      </p:sp>
    </p:spTree>
    <p:extLst>
      <p:ext uri="{BB962C8B-B14F-4D97-AF65-F5344CB8AC3E}">
        <p14:creationId xmlns:p14="http://schemas.microsoft.com/office/powerpoint/2010/main" val="12025713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19DC-7505-6DCD-AD63-DFBCD7CC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42735816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20D1-753C-9177-3FD7-05E87A9A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[Contribution 1]</a:t>
            </a:r>
          </a:p>
        </p:txBody>
      </p:sp>
    </p:spTree>
    <p:extLst>
      <p:ext uri="{BB962C8B-B14F-4D97-AF65-F5344CB8AC3E}">
        <p14:creationId xmlns:p14="http://schemas.microsoft.com/office/powerpoint/2010/main" val="32748260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5F187-BCFA-999D-20C4-063F1E71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4393-DB62-4B2B-04ED-6F2959B8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[Contribution 2]</a:t>
            </a:r>
          </a:p>
        </p:txBody>
      </p:sp>
    </p:spTree>
    <p:extLst>
      <p:ext uri="{BB962C8B-B14F-4D97-AF65-F5344CB8AC3E}">
        <p14:creationId xmlns:p14="http://schemas.microsoft.com/office/powerpoint/2010/main" val="177104681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B232-490D-2C9A-6431-EE7A67DA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8186-2FA1-1F79-0455-76095276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0200829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6318-5B77-B4B5-1145-7AD7D848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40595108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/>
            <a:ea typeface="Futura"/>
            <a:cs typeface="Futura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/>
            <a:ea typeface="Futura"/>
            <a:cs typeface="Futura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177</Words>
  <Application>Microsoft Macintosh PowerPoint</Application>
  <PresentationFormat>Custom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Cambria Math</vt:lpstr>
      <vt:lpstr>CMU Concrete Roman</vt:lpstr>
      <vt:lpstr>Futura</vt:lpstr>
      <vt:lpstr>Gill Sans</vt:lpstr>
      <vt:lpstr>Lucida Grande</vt:lpstr>
      <vt:lpstr>White</vt:lpstr>
      <vt:lpstr>Certifying Differential Invariants in Backpropagation of Neural Networks using Abstract Duals</vt:lpstr>
      <vt:lpstr>[Catch]</vt:lpstr>
      <vt:lpstr>[What is the problem?]</vt:lpstr>
      <vt:lpstr>[Why is it interesting?]</vt:lpstr>
      <vt:lpstr>[Why is it hard?]</vt:lpstr>
      <vt:lpstr>[What is the contribution?]</vt:lpstr>
      <vt:lpstr>Contributions</vt:lpstr>
      <vt:lpstr>[Contribution 1]</vt:lpstr>
      <vt:lpstr>[Contribution 2]</vt:lpstr>
      <vt:lpstr>Evaluation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Chandra Kanth Nagesh</cp:lastModifiedBy>
  <cp:revision>6</cp:revision>
  <dcterms:modified xsi:type="dcterms:W3CDTF">2025-12-08T09:19:18Z</dcterms:modified>
</cp:coreProperties>
</file>